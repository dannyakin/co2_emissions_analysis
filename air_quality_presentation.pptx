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6" r:id="rId8"/>
    <p:sldId id="262" r:id="rId9"/>
    <p:sldId id="263" r:id="rId10"/>
    <p:sldId id="264" r:id="rId11"/>
    <p:sldId id="265"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6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ACFD-ADB5-557E-0917-5F33B5236E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6CF0836-48B1-3797-FD44-717409EF75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35272D7-B893-7A79-EA4C-28847F03CCB4}"/>
              </a:ext>
            </a:extLst>
          </p:cNvPr>
          <p:cNvSpPr>
            <a:spLocks noGrp="1"/>
          </p:cNvSpPr>
          <p:nvPr>
            <p:ph type="dt" sz="half" idx="10"/>
          </p:nvPr>
        </p:nvSpPr>
        <p:spPr/>
        <p:txBody>
          <a:bodyPr/>
          <a:lstStyle/>
          <a:p>
            <a:fld id="{4514B9B8-DB1D-4BEA-9854-DF2CB71E23B3}" type="datetimeFigureOut">
              <a:rPr lang="en-GB" smtClean="0"/>
              <a:t>25/10/2024</a:t>
            </a:fld>
            <a:endParaRPr lang="en-GB"/>
          </a:p>
        </p:txBody>
      </p:sp>
      <p:sp>
        <p:nvSpPr>
          <p:cNvPr id="5" name="Footer Placeholder 4">
            <a:extLst>
              <a:ext uri="{FF2B5EF4-FFF2-40B4-BE49-F238E27FC236}">
                <a16:creationId xmlns:a16="http://schemas.microsoft.com/office/drawing/2014/main" id="{0A61A032-D7E8-CC44-5B3A-3B9F780E3B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B927DD8-85CC-8099-CBFB-ED9638465F8D}"/>
              </a:ext>
            </a:extLst>
          </p:cNvPr>
          <p:cNvSpPr>
            <a:spLocks noGrp="1"/>
          </p:cNvSpPr>
          <p:nvPr>
            <p:ph type="sldNum" sz="quarter" idx="12"/>
          </p:nvPr>
        </p:nvSpPr>
        <p:spPr/>
        <p:txBody>
          <a:bodyPr/>
          <a:lstStyle/>
          <a:p>
            <a:fld id="{1B65AE6C-E088-479D-8D62-7AA68650BAC0}" type="slidenum">
              <a:rPr lang="en-GB" smtClean="0"/>
              <a:t>‹#›</a:t>
            </a:fld>
            <a:endParaRPr lang="en-GB"/>
          </a:p>
        </p:txBody>
      </p:sp>
    </p:spTree>
    <p:extLst>
      <p:ext uri="{BB962C8B-B14F-4D97-AF65-F5344CB8AC3E}">
        <p14:creationId xmlns:p14="http://schemas.microsoft.com/office/powerpoint/2010/main" val="3399533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22136-D22C-3437-E741-67744E7EA3C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854B25F-E865-8522-C542-A0CCD29108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E241E1-3436-5065-8CE7-2942AEA1E44F}"/>
              </a:ext>
            </a:extLst>
          </p:cNvPr>
          <p:cNvSpPr>
            <a:spLocks noGrp="1"/>
          </p:cNvSpPr>
          <p:nvPr>
            <p:ph type="dt" sz="half" idx="10"/>
          </p:nvPr>
        </p:nvSpPr>
        <p:spPr/>
        <p:txBody>
          <a:bodyPr/>
          <a:lstStyle/>
          <a:p>
            <a:fld id="{4514B9B8-DB1D-4BEA-9854-DF2CB71E23B3}" type="datetimeFigureOut">
              <a:rPr lang="en-GB" smtClean="0"/>
              <a:t>25/10/2024</a:t>
            </a:fld>
            <a:endParaRPr lang="en-GB"/>
          </a:p>
        </p:txBody>
      </p:sp>
      <p:sp>
        <p:nvSpPr>
          <p:cNvPr id="5" name="Footer Placeholder 4">
            <a:extLst>
              <a:ext uri="{FF2B5EF4-FFF2-40B4-BE49-F238E27FC236}">
                <a16:creationId xmlns:a16="http://schemas.microsoft.com/office/drawing/2014/main" id="{7523A7C4-A745-4FDB-47FB-4554E51BE8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779B7F-3F8D-3328-2269-795EECAB0D29}"/>
              </a:ext>
            </a:extLst>
          </p:cNvPr>
          <p:cNvSpPr>
            <a:spLocks noGrp="1"/>
          </p:cNvSpPr>
          <p:nvPr>
            <p:ph type="sldNum" sz="quarter" idx="12"/>
          </p:nvPr>
        </p:nvSpPr>
        <p:spPr/>
        <p:txBody>
          <a:bodyPr/>
          <a:lstStyle/>
          <a:p>
            <a:fld id="{1B65AE6C-E088-479D-8D62-7AA68650BAC0}" type="slidenum">
              <a:rPr lang="en-GB" smtClean="0"/>
              <a:t>‹#›</a:t>
            </a:fld>
            <a:endParaRPr lang="en-GB"/>
          </a:p>
        </p:txBody>
      </p:sp>
    </p:spTree>
    <p:extLst>
      <p:ext uri="{BB962C8B-B14F-4D97-AF65-F5344CB8AC3E}">
        <p14:creationId xmlns:p14="http://schemas.microsoft.com/office/powerpoint/2010/main" val="443072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F5BE2-A38F-B567-453F-E2D802073A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A987676-48F6-4784-2A43-77053EA6F5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374972-9DE6-A88F-E720-CE662FCA12E0}"/>
              </a:ext>
            </a:extLst>
          </p:cNvPr>
          <p:cNvSpPr>
            <a:spLocks noGrp="1"/>
          </p:cNvSpPr>
          <p:nvPr>
            <p:ph type="dt" sz="half" idx="10"/>
          </p:nvPr>
        </p:nvSpPr>
        <p:spPr/>
        <p:txBody>
          <a:bodyPr/>
          <a:lstStyle/>
          <a:p>
            <a:fld id="{4514B9B8-DB1D-4BEA-9854-DF2CB71E23B3}" type="datetimeFigureOut">
              <a:rPr lang="en-GB" smtClean="0"/>
              <a:t>25/10/2024</a:t>
            </a:fld>
            <a:endParaRPr lang="en-GB"/>
          </a:p>
        </p:txBody>
      </p:sp>
      <p:sp>
        <p:nvSpPr>
          <p:cNvPr id="5" name="Footer Placeholder 4">
            <a:extLst>
              <a:ext uri="{FF2B5EF4-FFF2-40B4-BE49-F238E27FC236}">
                <a16:creationId xmlns:a16="http://schemas.microsoft.com/office/drawing/2014/main" id="{58657D83-2189-ACCA-F102-984226B9FF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AB2960-15D6-69AA-A5E9-E9AD56F32833}"/>
              </a:ext>
            </a:extLst>
          </p:cNvPr>
          <p:cNvSpPr>
            <a:spLocks noGrp="1"/>
          </p:cNvSpPr>
          <p:nvPr>
            <p:ph type="sldNum" sz="quarter" idx="12"/>
          </p:nvPr>
        </p:nvSpPr>
        <p:spPr/>
        <p:txBody>
          <a:bodyPr/>
          <a:lstStyle/>
          <a:p>
            <a:fld id="{1B65AE6C-E088-479D-8D62-7AA68650BAC0}" type="slidenum">
              <a:rPr lang="en-GB" smtClean="0"/>
              <a:t>‹#›</a:t>
            </a:fld>
            <a:endParaRPr lang="en-GB"/>
          </a:p>
        </p:txBody>
      </p:sp>
    </p:spTree>
    <p:extLst>
      <p:ext uri="{BB962C8B-B14F-4D97-AF65-F5344CB8AC3E}">
        <p14:creationId xmlns:p14="http://schemas.microsoft.com/office/powerpoint/2010/main" val="1974516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118FE-8217-8828-A31A-5CC9BDADEC7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49777E0-930C-BB26-C8DC-F9D089687E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2794EAA-5CB5-34D3-6CAE-3371B02FE6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AE0BD36-07BA-8D04-1987-5332FDFA5B1E}"/>
              </a:ext>
            </a:extLst>
          </p:cNvPr>
          <p:cNvSpPr>
            <a:spLocks noGrp="1"/>
          </p:cNvSpPr>
          <p:nvPr>
            <p:ph type="dt" sz="half" idx="10"/>
          </p:nvPr>
        </p:nvSpPr>
        <p:spPr/>
        <p:txBody>
          <a:bodyPr/>
          <a:lstStyle/>
          <a:p>
            <a:fld id="{4514B9B8-DB1D-4BEA-9854-DF2CB71E23B3}" type="datetimeFigureOut">
              <a:rPr lang="en-GB" smtClean="0"/>
              <a:t>25/10/2024</a:t>
            </a:fld>
            <a:endParaRPr lang="en-GB"/>
          </a:p>
        </p:txBody>
      </p:sp>
      <p:sp>
        <p:nvSpPr>
          <p:cNvPr id="6" name="Footer Placeholder 5">
            <a:extLst>
              <a:ext uri="{FF2B5EF4-FFF2-40B4-BE49-F238E27FC236}">
                <a16:creationId xmlns:a16="http://schemas.microsoft.com/office/drawing/2014/main" id="{73152697-782F-D0DC-92C5-1AF85ADC833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484CF8A-EA9C-B2CA-A986-AF6442874B71}"/>
              </a:ext>
            </a:extLst>
          </p:cNvPr>
          <p:cNvSpPr>
            <a:spLocks noGrp="1"/>
          </p:cNvSpPr>
          <p:nvPr>
            <p:ph type="sldNum" sz="quarter" idx="12"/>
          </p:nvPr>
        </p:nvSpPr>
        <p:spPr/>
        <p:txBody>
          <a:bodyPr/>
          <a:lstStyle/>
          <a:p>
            <a:fld id="{1B65AE6C-E088-479D-8D62-7AA68650BAC0}" type="slidenum">
              <a:rPr lang="en-GB" smtClean="0"/>
              <a:t>‹#›</a:t>
            </a:fld>
            <a:endParaRPr lang="en-GB"/>
          </a:p>
        </p:txBody>
      </p:sp>
    </p:spTree>
    <p:extLst>
      <p:ext uri="{BB962C8B-B14F-4D97-AF65-F5344CB8AC3E}">
        <p14:creationId xmlns:p14="http://schemas.microsoft.com/office/powerpoint/2010/main" val="4151645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0B066-D5BA-0EAC-FE29-7520816B394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555EF5F-0B46-6B91-155B-5B6567FD4C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58C224-1091-6603-161E-028FE33AED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814E4C7-6821-177B-449E-48BEF3979D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1340D8-B86C-553F-9572-DBCB77FDC3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9914946-9A48-42DA-C318-6FCE8DFC2F26}"/>
              </a:ext>
            </a:extLst>
          </p:cNvPr>
          <p:cNvSpPr>
            <a:spLocks noGrp="1"/>
          </p:cNvSpPr>
          <p:nvPr>
            <p:ph type="dt" sz="half" idx="10"/>
          </p:nvPr>
        </p:nvSpPr>
        <p:spPr/>
        <p:txBody>
          <a:bodyPr/>
          <a:lstStyle/>
          <a:p>
            <a:fld id="{4514B9B8-DB1D-4BEA-9854-DF2CB71E23B3}" type="datetimeFigureOut">
              <a:rPr lang="en-GB" smtClean="0"/>
              <a:t>25/10/2024</a:t>
            </a:fld>
            <a:endParaRPr lang="en-GB"/>
          </a:p>
        </p:txBody>
      </p:sp>
      <p:sp>
        <p:nvSpPr>
          <p:cNvPr id="8" name="Footer Placeholder 7">
            <a:extLst>
              <a:ext uri="{FF2B5EF4-FFF2-40B4-BE49-F238E27FC236}">
                <a16:creationId xmlns:a16="http://schemas.microsoft.com/office/drawing/2014/main" id="{69109B60-7B6E-90C3-BCB1-DEC6E842191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9015EF4-1F6E-4920-5FB7-0D1CFCF61530}"/>
              </a:ext>
            </a:extLst>
          </p:cNvPr>
          <p:cNvSpPr>
            <a:spLocks noGrp="1"/>
          </p:cNvSpPr>
          <p:nvPr>
            <p:ph type="sldNum" sz="quarter" idx="12"/>
          </p:nvPr>
        </p:nvSpPr>
        <p:spPr/>
        <p:txBody>
          <a:bodyPr/>
          <a:lstStyle/>
          <a:p>
            <a:fld id="{1B65AE6C-E088-479D-8D62-7AA68650BAC0}" type="slidenum">
              <a:rPr lang="en-GB" smtClean="0"/>
              <a:t>‹#›</a:t>
            </a:fld>
            <a:endParaRPr lang="en-GB"/>
          </a:p>
        </p:txBody>
      </p:sp>
    </p:spTree>
    <p:extLst>
      <p:ext uri="{BB962C8B-B14F-4D97-AF65-F5344CB8AC3E}">
        <p14:creationId xmlns:p14="http://schemas.microsoft.com/office/powerpoint/2010/main" val="2644890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9127-D29B-C485-37C2-34EEBC24382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8FC4F61-7ED9-A711-B5CF-68BC61D32C6D}"/>
              </a:ext>
            </a:extLst>
          </p:cNvPr>
          <p:cNvSpPr>
            <a:spLocks noGrp="1"/>
          </p:cNvSpPr>
          <p:nvPr>
            <p:ph type="dt" sz="half" idx="10"/>
          </p:nvPr>
        </p:nvSpPr>
        <p:spPr/>
        <p:txBody>
          <a:bodyPr/>
          <a:lstStyle/>
          <a:p>
            <a:fld id="{4514B9B8-DB1D-4BEA-9854-DF2CB71E23B3}" type="datetimeFigureOut">
              <a:rPr lang="en-GB" smtClean="0"/>
              <a:t>25/10/2024</a:t>
            </a:fld>
            <a:endParaRPr lang="en-GB"/>
          </a:p>
        </p:txBody>
      </p:sp>
      <p:sp>
        <p:nvSpPr>
          <p:cNvPr id="4" name="Footer Placeholder 3">
            <a:extLst>
              <a:ext uri="{FF2B5EF4-FFF2-40B4-BE49-F238E27FC236}">
                <a16:creationId xmlns:a16="http://schemas.microsoft.com/office/drawing/2014/main" id="{0B769089-96F1-D53F-280E-284143C19D7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47706E8-BFDA-2C23-4FB7-10000C760530}"/>
              </a:ext>
            </a:extLst>
          </p:cNvPr>
          <p:cNvSpPr>
            <a:spLocks noGrp="1"/>
          </p:cNvSpPr>
          <p:nvPr>
            <p:ph type="sldNum" sz="quarter" idx="12"/>
          </p:nvPr>
        </p:nvSpPr>
        <p:spPr/>
        <p:txBody>
          <a:bodyPr/>
          <a:lstStyle/>
          <a:p>
            <a:fld id="{1B65AE6C-E088-479D-8D62-7AA68650BAC0}" type="slidenum">
              <a:rPr lang="en-GB" smtClean="0"/>
              <a:t>‹#›</a:t>
            </a:fld>
            <a:endParaRPr lang="en-GB"/>
          </a:p>
        </p:txBody>
      </p:sp>
    </p:spTree>
    <p:extLst>
      <p:ext uri="{BB962C8B-B14F-4D97-AF65-F5344CB8AC3E}">
        <p14:creationId xmlns:p14="http://schemas.microsoft.com/office/powerpoint/2010/main" val="481468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BA347C-D56B-5AF3-EB74-08F947EBE2B6}"/>
              </a:ext>
            </a:extLst>
          </p:cNvPr>
          <p:cNvSpPr>
            <a:spLocks noGrp="1"/>
          </p:cNvSpPr>
          <p:nvPr>
            <p:ph type="dt" sz="half" idx="10"/>
          </p:nvPr>
        </p:nvSpPr>
        <p:spPr/>
        <p:txBody>
          <a:bodyPr/>
          <a:lstStyle/>
          <a:p>
            <a:fld id="{4514B9B8-DB1D-4BEA-9854-DF2CB71E23B3}" type="datetimeFigureOut">
              <a:rPr lang="en-GB" smtClean="0"/>
              <a:t>25/10/2024</a:t>
            </a:fld>
            <a:endParaRPr lang="en-GB"/>
          </a:p>
        </p:txBody>
      </p:sp>
      <p:sp>
        <p:nvSpPr>
          <p:cNvPr id="3" name="Footer Placeholder 2">
            <a:extLst>
              <a:ext uri="{FF2B5EF4-FFF2-40B4-BE49-F238E27FC236}">
                <a16:creationId xmlns:a16="http://schemas.microsoft.com/office/drawing/2014/main" id="{EE6F7591-4A6B-0C7E-01ED-7119EA97942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90E72A9-66BE-0FD1-6047-D63D8EB49DF5}"/>
              </a:ext>
            </a:extLst>
          </p:cNvPr>
          <p:cNvSpPr>
            <a:spLocks noGrp="1"/>
          </p:cNvSpPr>
          <p:nvPr>
            <p:ph type="sldNum" sz="quarter" idx="12"/>
          </p:nvPr>
        </p:nvSpPr>
        <p:spPr/>
        <p:txBody>
          <a:bodyPr/>
          <a:lstStyle/>
          <a:p>
            <a:fld id="{1B65AE6C-E088-479D-8D62-7AA68650BAC0}" type="slidenum">
              <a:rPr lang="en-GB" smtClean="0"/>
              <a:t>‹#›</a:t>
            </a:fld>
            <a:endParaRPr lang="en-GB"/>
          </a:p>
        </p:txBody>
      </p:sp>
    </p:spTree>
    <p:extLst>
      <p:ext uri="{BB962C8B-B14F-4D97-AF65-F5344CB8AC3E}">
        <p14:creationId xmlns:p14="http://schemas.microsoft.com/office/powerpoint/2010/main" val="2234952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75A75-4084-DD3F-4272-F30D22D92D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0D5600D-EEDB-6AC9-AF4A-9C3C10DF7B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D2C8A5B-DA0B-B402-AF5D-203DBB9EA3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47C66-B198-443A-C13D-24333DE5D3AC}"/>
              </a:ext>
            </a:extLst>
          </p:cNvPr>
          <p:cNvSpPr>
            <a:spLocks noGrp="1"/>
          </p:cNvSpPr>
          <p:nvPr>
            <p:ph type="dt" sz="half" idx="10"/>
          </p:nvPr>
        </p:nvSpPr>
        <p:spPr/>
        <p:txBody>
          <a:bodyPr/>
          <a:lstStyle/>
          <a:p>
            <a:fld id="{4514B9B8-DB1D-4BEA-9854-DF2CB71E23B3}" type="datetimeFigureOut">
              <a:rPr lang="en-GB" smtClean="0"/>
              <a:t>25/10/2024</a:t>
            </a:fld>
            <a:endParaRPr lang="en-GB"/>
          </a:p>
        </p:txBody>
      </p:sp>
      <p:sp>
        <p:nvSpPr>
          <p:cNvPr id="6" name="Footer Placeholder 5">
            <a:extLst>
              <a:ext uri="{FF2B5EF4-FFF2-40B4-BE49-F238E27FC236}">
                <a16:creationId xmlns:a16="http://schemas.microsoft.com/office/drawing/2014/main" id="{349FC7AE-5A84-3846-8E1B-D31D85D9C2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D8B6860-C5F2-8A35-8F7B-D91253CC390E}"/>
              </a:ext>
            </a:extLst>
          </p:cNvPr>
          <p:cNvSpPr>
            <a:spLocks noGrp="1"/>
          </p:cNvSpPr>
          <p:nvPr>
            <p:ph type="sldNum" sz="quarter" idx="12"/>
          </p:nvPr>
        </p:nvSpPr>
        <p:spPr/>
        <p:txBody>
          <a:bodyPr/>
          <a:lstStyle/>
          <a:p>
            <a:fld id="{1B65AE6C-E088-479D-8D62-7AA68650BAC0}" type="slidenum">
              <a:rPr lang="en-GB" smtClean="0"/>
              <a:t>‹#›</a:t>
            </a:fld>
            <a:endParaRPr lang="en-GB"/>
          </a:p>
        </p:txBody>
      </p:sp>
    </p:spTree>
    <p:extLst>
      <p:ext uri="{BB962C8B-B14F-4D97-AF65-F5344CB8AC3E}">
        <p14:creationId xmlns:p14="http://schemas.microsoft.com/office/powerpoint/2010/main" val="2484661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3263B-22E0-55DF-A85B-DB98B0DDBB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01C83B8-C20B-7830-A6CF-C621088138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52C7DF7-9CA7-4428-4CA7-C48017798F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B78D3-1007-B585-9833-68BE9CC73D0D}"/>
              </a:ext>
            </a:extLst>
          </p:cNvPr>
          <p:cNvSpPr>
            <a:spLocks noGrp="1"/>
          </p:cNvSpPr>
          <p:nvPr>
            <p:ph type="dt" sz="half" idx="10"/>
          </p:nvPr>
        </p:nvSpPr>
        <p:spPr/>
        <p:txBody>
          <a:bodyPr/>
          <a:lstStyle/>
          <a:p>
            <a:fld id="{4514B9B8-DB1D-4BEA-9854-DF2CB71E23B3}" type="datetimeFigureOut">
              <a:rPr lang="en-GB" smtClean="0"/>
              <a:t>25/10/2024</a:t>
            </a:fld>
            <a:endParaRPr lang="en-GB"/>
          </a:p>
        </p:txBody>
      </p:sp>
      <p:sp>
        <p:nvSpPr>
          <p:cNvPr id="6" name="Footer Placeholder 5">
            <a:extLst>
              <a:ext uri="{FF2B5EF4-FFF2-40B4-BE49-F238E27FC236}">
                <a16:creationId xmlns:a16="http://schemas.microsoft.com/office/drawing/2014/main" id="{676B3928-14A0-63E1-330D-2BC3B17B68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1CDE6D3-2B92-75A9-D8C9-FA2B01EF00D9}"/>
              </a:ext>
            </a:extLst>
          </p:cNvPr>
          <p:cNvSpPr>
            <a:spLocks noGrp="1"/>
          </p:cNvSpPr>
          <p:nvPr>
            <p:ph type="sldNum" sz="quarter" idx="12"/>
          </p:nvPr>
        </p:nvSpPr>
        <p:spPr/>
        <p:txBody>
          <a:bodyPr/>
          <a:lstStyle/>
          <a:p>
            <a:fld id="{1B65AE6C-E088-479D-8D62-7AA68650BAC0}" type="slidenum">
              <a:rPr lang="en-GB" smtClean="0"/>
              <a:t>‹#›</a:t>
            </a:fld>
            <a:endParaRPr lang="en-GB"/>
          </a:p>
        </p:txBody>
      </p:sp>
    </p:spTree>
    <p:extLst>
      <p:ext uri="{BB962C8B-B14F-4D97-AF65-F5344CB8AC3E}">
        <p14:creationId xmlns:p14="http://schemas.microsoft.com/office/powerpoint/2010/main" val="2098701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895AE-8994-A63E-AF06-2874C66628A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D9E6146-9BB6-CED5-5CF5-D04293F3E0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2A5FBF8-F6D9-2B63-EC21-74AC1D017AEF}"/>
              </a:ext>
            </a:extLst>
          </p:cNvPr>
          <p:cNvSpPr>
            <a:spLocks noGrp="1"/>
          </p:cNvSpPr>
          <p:nvPr>
            <p:ph type="dt" sz="half" idx="10"/>
          </p:nvPr>
        </p:nvSpPr>
        <p:spPr/>
        <p:txBody>
          <a:bodyPr/>
          <a:lstStyle/>
          <a:p>
            <a:fld id="{4514B9B8-DB1D-4BEA-9854-DF2CB71E23B3}" type="datetimeFigureOut">
              <a:rPr lang="en-GB" smtClean="0"/>
              <a:t>25/10/2024</a:t>
            </a:fld>
            <a:endParaRPr lang="en-GB"/>
          </a:p>
        </p:txBody>
      </p:sp>
      <p:sp>
        <p:nvSpPr>
          <p:cNvPr id="5" name="Footer Placeholder 4">
            <a:extLst>
              <a:ext uri="{FF2B5EF4-FFF2-40B4-BE49-F238E27FC236}">
                <a16:creationId xmlns:a16="http://schemas.microsoft.com/office/drawing/2014/main" id="{656C2AD7-F68C-FD42-E077-B0914114D71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6315AE-2422-EB47-CD49-31B696751F11}"/>
              </a:ext>
            </a:extLst>
          </p:cNvPr>
          <p:cNvSpPr>
            <a:spLocks noGrp="1"/>
          </p:cNvSpPr>
          <p:nvPr>
            <p:ph type="sldNum" sz="quarter" idx="12"/>
          </p:nvPr>
        </p:nvSpPr>
        <p:spPr/>
        <p:txBody>
          <a:bodyPr/>
          <a:lstStyle/>
          <a:p>
            <a:fld id="{1B65AE6C-E088-479D-8D62-7AA68650BAC0}" type="slidenum">
              <a:rPr lang="en-GB" smtClean="0"/>
              <a:t>‹#›</a:t>
            </a:fld>
            <a:endParaRPr lang="en-GB"/>
          </a:p>
        </p:txBody>
      </p:sp>
    </p:spTree>
    <p:extLst>
      <p:ext uri="{BB962C8B-B14F-4D97-AF65-F5344CB8AC3E}">
        <p14:creationId xmlns:p14="http://schemas.microsoft.com/office/powerpoint/2010/main" val="3844776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7F9F8A-27E5-9B12-C7E6-2A825644D6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04F9ECE-0CD9-28E7-0B25-AE8C933D8F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C49867-3549-8D32-CB05-A44BC961D618}"/>
              </a:ext>
            </a:extLst>
          </p:cNvPr>
          <p:cNvSpPr>
            <a:spLocks noGrp="1"/>
          </p:cNvSpPr>
          <p:nvPr>
            <p:ph type="dt" sz="half" idx="10"/>
          </p:nvPr>
        </p:nvSpPr>
        <p:spPr/>
        <p:txBody>
          <a:bodyPr/>
          <a:lstStyle/>
          <a:p>
            <a:fld id="{4514B9B8-DB1D-4BEA-9854-DF2CB71E23B3}" type="datetimeFigureOut">
              <a:rPr lang="en-GB" smtClean="0"/>
              <a:t>25/10/2024</a:t>
            </a:fld>
            <a:endParaRPr lang="en-GB"/>
          </a:p>
        </p:txBody>
      </p:sp>
      <p:sp>
        <p:nvSpPr>
          <p:cNvPr id="5" name="Footer Placeholder 4">
            <a:extLst>
              <a:ext uri="{FF2B5EF4-FFF2-40B4-BE49-F238E27FC236}">
                <a16:creationId xmlns:a16="http://schemas.microsoft.com/office/drawing/2014/main" id="{6304F0DB-4FAF-4346-A376-7DFEAE9526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76ACF5-2B1A-C267-BEBA-84742EF52D2A}"/>
              </a:ext>
            </a:extLst>
          </p:cNvPr>
          <p:cNvSpPr>
            <a:spLocks noGrp="1"/>
          </p:cNvSpPr>
          <p:nvPr>
            <p:ph type="sldNum" sz="quarter" idx="12"/>
          </p:nvPr>
        </p:nvSpPr>
        <p:spPr/>
        <p:txBody>
          <a:bodyPr/>
          <a:lstStyle/>
          <a:p>
            <a:fld id="{1B65AE6C-E088-479D-8D62-7AA68650BAC0}" type="slidenum">
              <a:rPr lang="en-GB" smtClean="0"/>
              <a:t>‹#›</a:t>
            </a:fld>
            <a:endParaRPr lang="en-GB"/>
          </a:p>
        </p:txBody>
      </p:sp>
    </p:spTree>
    <p:extLst>
      <p:ext uri="{BB962C8B-B14F-4D97-AF65-F5344CB8AC3E}">
        <p14:creationId xmlns:p14="http://schemas.microsoft.com/office/powerpoint/2010/main" val="372509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8412A4-D2F9-8EB2-8356-2E6708743C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403356-3EF7-7622-5C81-9DF6AC4E31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DD614B-6D28-3747-6502-A2ADD93910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14B9B8-DB1D-4BEA-9854-DF2CB71E23B3}" type="datetimeFigureOut">
              <a:rPr lang="en-GB" smtClean="0"/>
              <a:t>25/10/2024</a:t>
            </a:fld>
            <a:endParaRPr lang="en-GB"/>
          </a:p>
        </p:txBody>
      </p:sp>
      <p:sp>
        <p:nvSpPr>
          <p:cNvPr id="5" name="Footer Placeholder 4">
            <a:extLst>
              <a:ext uri="{FF2B5EF4-FFF2-40B4-BE49-F238E27FC236}">
                <a16:creationId xmlns:a16="http://schemas.microsoft.com/office/drawing/2014/main" id="{649EF967-00F8-74B2-DC51-9A540C7612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44FCB51-DF0F-FB90-CC6E-D8A41370FC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65AE6C-E088-479D-8D62-7AA68650BAC0}" type="slidenum">
              <a:rPr lang="en-GB" smtClean="0"/>
              <a:t>‹#›</a:t>
            </a:fld>
            <a:endParaRPr lang="en-GB"/>
          </a:p>
        </p:txBody>
      </p:sp>
    </p:spTree>
    <p:extLst>
      <p:ext uri="{BB962C8B-B14F-4D97-AF65-F5344CB8AC3E}">
        <p14:creationId xmlns:p14="http://schemas.microsoft.com/office/powerpoint/2010/main" val="642723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841A0-BCCD-B315-1634-BB672C8FA1BA}"/>
              </a:ext>
            </a:extLst>
          </p:cNvPr>
          <p:cNvSpPr>
            <a:spLocks noGrp="1"/>
          </p:cNvSpPr>
          <p:nvPr>
            <p:ph type="ctrTitle"/>
          </p:nvPr>
        </p:nvSpPr>
        <p:spPr/>
        <p:txBody>
          <a:bodyPr/>
          <a:lstStyle/>
          <a:p>
            <a:r>
              <a:rPr lang="en-US" dirty="0"/>
              <a:t>Emission of CO2 in Rwanda</a:t>
            </a:r>
            <a:endParaRPr lang="en-GB" dirty="0"/>
          </a:p>
        </p:txBody>
      </p:sp>
    </p:spTree>
    <p:extLst>
      <p:ext uri="{BB962C8B-B14F-4D97-AF65-F5344CB8AC3E}">
        <p14:creationId xmlns:p14="http://schemas.microsoft.com/office/powerpoint/2010/main" val="2815052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39CE-8DAD-0A89-00B3-BB16E48686FE}"/>
              </a:ext>
            </a:extLst>
          </p:cNvPr>
          <p:cNvSpPr>
            <a:spLocks noGrp="1"/>
          </p:cNvSpPr>
          <p:nvPr>
            <p:ph type="title"/>
          </p:nvPr>
        </p:nvSpPr>
        <p:spPr/>
        <p:txBody>
          <a:bodyPr/>
          <a:lstStyle/>
          <a:p>
            <a:r>
              <a:rPr lang="en-US" dirty="0"/>
              <a:t>Introduction</a:t>
            </a:r>
            <a:endParaRPr lang="en-GB" dirty="0"/>
          </a:p>
        </p:txBody>
      </p:sp>
      <p:sp>
        <p:nvSpPr>
          <p:cNvPr id="3" name="Content Placeholder 2">
            <a:extLst>
              <a:ext uri="{FF2B5EF4-FFF2-40B4-BE49-F238E27FC236}">
                <a16:creationId xmlns:a16="http://schemas.microsoft.com/office/drawing/2014/main" id="{1460355D-1A11-2A9C-CA77-50AC64F72723}"/>
              </a:ext>
            </a:extLst>
          </p:cNvPr>
          <p:cNvSpPr>
            <a:spLocks noGrp="1"/>
          </p:cNvSpPr>
          <p:nvPr>
            <p:ph idx="1"/>
          </p:nvPr>
        </p:nvSpPr>
        <p:spPr>
          <a:xfrm>
            <a:off x="838200" y="2323167"/>
            <a:ext cx="10515600" cy="2329516"/>
          </a:xfrm>
        </p:spPr>
        <p:txBody>
          <a:bodyPr>
            <a:normAutofit/>
          </a:bodyPr>
          <a:lstStyle/>
          <a:p>
            <a:pPr marL="0" indent="0">
              <a:buNone/>
            </a:pPr>
            <a:r>
              <a:rPr lang="en-US" sz="2400" dirty="0"/>
              <a:t>Climate change is a global crisis, and accurate carbon emissions monitoring is essential for effective mitigation strategies. While many regions have sophisticated monitoring systems, Africa often lacks such infrastructure. This notebook aims to address this gap by performing deep data analysis on carbon emissions using satellite data.</a:t>
            </a:r>
            <a:endParaRPr lang="en-GB" sz="2400" dirty="0"/>
          </a:p>
        </p:txBody>
      </p:sp>
    </p:spTree>
    <p:extLst>
      <p:ext uri="{BB962C8B-B14F-4D97-AF65-F5344CB8AC3E}">
        <p14:creationId xmlns:p14="http://schemas.microsoft.com/office/powerpoint/2010/main" val="4106976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E4207-55F3-DECB-ABD9-22B1E7290812}"/>
              </a:ext>
            </a:extLst>
          </p:cNvPr>
          <p:cNvSpPr>
            <a:spLocks noGrp="1"/>
          </p:cNvSpPr>
          <p:nvPr>
            <p:ph type="title"/>
          </p:nvPr>
        </p:nvSpPr>
        <p:spPr/>
        <p:txBody>
          <a:bodyPr/>
          <a:lstStyle/>
          <a:p>
            <a:r>
              <a:rPr lang="en-US" dirty="0"/>
              <a:t>Objective</a:t>
            </a:r>
            <a:endParaRPr lang="en-GB" dirty="0"/>
          </a:p>
        </p:txBody>
      </p:sp>
      <p:sp>
        <p:nvSpPr>
          <p:cNvPr id="3" name="Content Placeholder 2">
            <a:extLst>
              <a:ext uri="{FF2B5EF4-FFF2-40B4-BE49-F238E27FC236}">
                <a16:creationId xmlns:a16="http://schemas.microsoft.com/office/drawing/2014/main" id="{F3DEC5A0-72CE-7DDA-1B14-8601B9517018}"/>
              </a:ext>
            </a:extLst>
          </p:cNvPr>
          <p:cNvSpPr>
            <a:spLocks noGrp="1"/>
          </p:cNvSpPr>
          <p:nvPr>
            <p:ph idx="1"/>
          </p:nvPr>
        </p:nvSpPr>
        <p:spPr>
          <a:xfrm>
            <a:off x="838200" y="2057213"/>
            <a:ext cx="10515600" cy="3590552"/>
          </a:xfrm>
        </p:spPr>
        <p:txBody>
          <a:bodyPr/>
          <a:lstStyle/>
          <a:p>
            <a:pPr marL="0" indent="0" algn="l">
              <a:buNone/>
            </a:pPr>
            <a:r>
              <a:rPr lang="en-US" sz="2400" dirty="0"/>
              <a:t>The goal of this notebook is to clean and </a:t>
            </a:r>
            <a:r>
              <a:rPr lang="en-GB" sz="2400" dirty="0"/>
              <a:t>analyse</a:t>
            </a:r>
            <a:r>
              <a:rPr lang="en-US" sz="2400" dirty="0"/>
              <a:t> the dataset to find deep and unusual patterns in the dataset.</a:t>
            </a:r>
          </a:p>
          <a:p>
            <a:pPr marL="0" indent="0" algn="l">
              <a:buNone/>
            </a:pPr>
            <a:r>
              <a:rPr lang="en-US" sz="2400" dirty="0"/>
              <a:t>The ability to accurately monitor carbon emissions is a critical step in the fight against climate change. Precise carbon readings allow researchers and governments to understand the sources and patterns of carbon mass output. While Europe and North America have extensive systems in place to monitor carbon emissions on the ground, there are few available in Africa.</a:t>
            </a:r>
          </a:p>
          <a:p>
            <a:pPr marL="0" indent="0">
              <a:buNone/>
            </a:pPr>
            <a:endParaRPr lang="en-GB" dirty="0"/>
          </a:p>
        </p:txBody>
      </p:sp>
    </p:spTree>
    <p:extLst>
      <p:ext uri="{BB962C8B-B14F-4D97-AF65-F5344CB8AC3E}">
        <p14:creationId xmlns:p14="http://schemas.microsoft.com/office/powerpoint/2010/main" val="2876108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598BC-A685-B6FE-16D6-EFF9009B42A4}"/>
              </a:ext>
            </a:extLst>
          </p:cNvPr>
          <p:cNvSpPr>
            <a:spLocks noGrp="1"/>
          </p:cNvSpPr>
          <p:nvPr>
            <p:ph type="title"/>
          </p:nvPr>
        </p:nvSpPr>
        <p:spPr/>
        <p:txBody>
          <a:bodyPr/>
          <a:lstStyle/>
          <a:p>
            <a:r>
              <a:rPr lang="en-US" dirty="0"/>
              <a:t>Data description</a:t>
            </a:r>
            <a:endParaRPr lang="en-GB" dirty="0"/>
          </a:p>
        </p:txBody>
      </p:sp>
      <p:sp>
        <p:nvSpPr>
          <p:cNvPr id="3" name="Content Placeholder 2">
            <a:extLst>
              <a:ext uri="{FF2B5EF4-FFF2-40B4-BE49-F238E27FC236}">
                <a16:creationId xmlns:a16="http://schemas.microsoft.com/office/drawing/2014/main" id="{2FAC4429-963D-B902-36A0-ACA6582C488A}"/>
              </a:ext>
            </a:extLst>
          </p:cNvPr>
          <p:cNvSpPr>
            <a:spLocks noGrp="1"/>
          </p:cNvSpPr>
          <p:nvPr>
            <p:ph idx="1"/>
          </p:nvPr>
        </p:nvSpPr>
        <p:spPr/>
        <p:txBody>
          <a:bodyPr>
            <a:normAutofit fontScale="70000" lnSpcReduction="20000"/>
          </a:bodyPr>
          <a:lstStyle/>
          <a:p>
            <a:pPr marL="0" indent="0">
              <a:buNone/>
            </a:pPr>
            <a:r>
              <a:rPr lang="en-US" dirty="0"/>
              <a:t>Each data point, in the dataset is characterized by four location-based indices (latitude, longitude, year, and week number), 70 descriptive features, and a target variable representing emissions.</a:t>
            </a:r>
          </a:p>
          <a:p>
            <a:pPr marL="0" indent="0">
              <a:buNone/>
            </a:pPr>
            <a:endParaRPr lang="en-GB" dirty="0"/>
          </a:p>
          <a:p>
            <a:pPr marL="0" indent="0">
              <a:buNone/>
            </a:pPr>
            <a:r>
              <a:rPr lang="en-GB" dirty="0"/>
              <a:t>Feature Groups</a:t>
            </a:r>
          </a:p>
          <a:p>
            <a:pPr marL="0" indent="0">
              <a:buNone/>
            </a:pPr>
            <a:r>
              <a:rPr lang="en-GB" dirty="0"/>
              <a:t>The 70 features are organized into eight distinct groups, each with a varying number of elements.</a:t>
            </a:r>
          </a:p>
          <a:p>
            <a:r>
              <a:rPr lang="en-GB" dirty="0" err="1"/>
              <a:t>Sulfur</a:t>
            </a:r>
            <a:r>
              <a:rPr lang="en-GB" dirty="0"/>
              <a:t> Dioxide</a:t>
            </a:r>
          </a:p>
          <a:p>
            <a:r>
              <a:rPr lang="en-GB" dirty="0"/>
              <a:t>Carbon Monoxide</a:t>
            </a:r>
          </a:p>
          <a:p>
            <a:r>
              <a:rPr lang="en-GB" dirty="0"/>
              <a:t>Nitrogen Dioxide</a:t>
            </a:r>
          </a:p>
          <a:p>
            <a:r>
              <a:rPr lang="en-GB" dirty="0"/>
              <a:t>Formaldehyde</a:t>
            </a:r>
          </a:p>
          <a:p>
            <a:r>
              <a:rPr lang="en-GB" dirty="0"/>
              <a:t>UV Aerosol Index </a:t>
            </a:r>
          </a:p>
          <a:p>
            <a:r>
              <a:rPr lang="en-GB" dirty="0"/>
              <a:t>Ozone</a:t>
            </a:r>
          </a:p>
          <a:p>
            <a:r>
              <a:rPr lang="en-GB" dirty="0"/>
              <a:t>Cloud</a:t>
            </a:r>
          </a:p>
          <a:p>
            <a:r>
              <a:rPr lang="en-GB" dirty="0" err="1"/>
              <a:t>UvAerosolLayerHeight</a:t>
            </a:r>
            <a:endParaRPr lang="en-GB" dirty="0"/>
          </a:p>
          <a:p>
            <a:pPr marL="0" indent="0">
              <a:buNone/>
            </a:pPr>
            <a:endParaRPr lang="en-GB" dirty="0"/>
          </a:p>
        </p:txBody>
      </p:sp>
    </p:spTree>
    <p:extLst>
      <p:ext uri="{BB962C8B-B14F-4D97-AF65-F5344CB8AC3E}">
        <p14:creationId xmlns:p14="http://schemas.microsoft.com/office/powerpoint/2010/main" val="2203782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553FA-E871-17F4-8AD8-4CBC5169F747}"/>
              </a:ext>
            </a:extLst>
          </p:cNvPr>
          <p:cNvSpPr>
            <a:spLocks noGrp="1"/>
          </p:cNvSpPr>
          <p:nvPr>
            <p:ph type="title"/>
          </p:nvPr>
        </p:nvSpPr>
        <p:spPr/>
        <p:txBody>
          <a:bodyPr/>
          <a:lstStyle/>
          <a:p>
            <a:r>
              <a:rPr lang="en-US" dirty="0"/>
              <a:t>Data preprocessing</a:t>
            </a:r>
            <a:endParaRPr lang="en-GB" dirty="0"/>
          </a:p>
        </p:txBody>
      </p:sp>
      <p:sp>
        <p:nvSpPr>
          <p:cNvPr id="3" name="Content Placeholder 2">
            <a:extLst>
              <a:ext uri="{FF2B5EF4-FFF2-40B4-BE49-F238E27FC236}">
                <a16:creationId xmlns:a16="http://schemas.microsoft.com/office/drawing/2014/main" id="{34BE7450-1AB8-8A10-4803-1E33D11F27AC}"/>
              </a:ext>
            </a:extLst>
          </p:cNvPr>
          <p:cNvSpPr>
            <a:spLocks noGrp="1"/>
          </p:cNvSpPr>
          <p:nvPr>
            <p:ph idx="1"/>
          </p:nvPr>
        </p:nvSpPr>
        <p:spPr/>
        <p:txBody>
          <a:bodyPr/>
          <a:lstStyle/>
          <a:p>
            <a:pPr marL="0" indent="0">
              <a:buNone/>
            </a:pPr>
            <a:r>
              <a:rPr lang="en-GB" sz="2400" dirty="0"/>
              <a:t>Data dropping:</a:t>
            </a:r>
          </a:p>
          <a:p>
            <a:r>
              <a:rPr lang="en-GB" sz="2400" dirty="0"/>
              <a:t>The </a:t>
            </a:r>
            <a:r>
              <a:rPr lang="en-GB" sz="2400" dirty="0" err="1"/>
              <a:t>UvAerosolLayerHeigh</a:t>
            </a:r>
            <a:r>
              <a:rPr lang="en-GB" sz="2400" dirty="0"/>
              <a:t> features contains so many missing values, usually over 90%, so they were dropped off.</a:t>
            </a:r>
          </a:p>
          <a:p>
            <a:pPr marL="0" indent="0">
              <a:buNone/>
            </a:pPr>
            <a:endParaRPr lang="en-GB" sz="2400" dirty="0"/>
          </a:p>
          <a:p>
            <a:pPr marL="0" indent="0">
              <a:buNone/>
            </a:pPr>
            <a:endParaRPr lang="en-GB" sz="2400" dirty="0"/>
          </a:p>
          <a:p>
            <a:pPr marL="0" indent="0">
              <a:buNone/>
            </a:pPr>
            <a:r>
              <a:rPr lang="en-GB" sz="2400" dirty="0"/>
              <a:t>Feature engineering:</a:t>
            </a:r>
          </a:p>
          <a:p>
            <a:r>
              <a:rPr lang="en-GB" sz="2400" dirty="0"/>
              <a:t>Three features were derived from the combination of the original dataset.</a:t>
            </a:r>
          </a:p>
          <a:p>
            <a:pPr marL="0" indent="0">
              <a:buNone/>
            </a:pPr>
            <a:endParaRPr lang="en-GB" dirty="0"/>
          </a:p>
        </p:txBody>
      </p:sp>
    </p:spTree>
    <p:extLst>
      <p:ext uri="{BB962C8B-B14F-4D97-AF65-F5344CB8AC3E}">
        <p14:creationId xmlns:p14="http://schemas.microsoft.com/office/powerpoint/2010/main" val="3767671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FA14C-72ED-E606-6D8D-4DF4FB89075C}"/>
              </a:ext>
            </a:extLst>
          </p:cNvPr>
          <p:cNvSpPr>
            <a:spLocks noGrp="1"/>
          </p:cNvSpPr>
          <p:nvPr>
            <p:ph type="title"/>
          </p:nvPr>
        </p:nvSpPr>
        <p:spPr/>
        <p:txBody>
          <a:bodyPr/>
          <a:lstStyle/>
          <a:p>
            <a:r>
              <a:rPr lang="en-US" dirty="0"/>
              <a:t>				Emission</a:t>
            </a:r>
            <a:endParaRPr lang="en-GB" dirty="0"/>
          </a:p>
        </p:txBody>
      </p:sp>
      <p:pic>
        <p:nvPicPr>
          <p:cNvPr id="5" name="Content Placeholder 4">
            <a:extLst>
              <a:ext uri="{FF2B5EF4-FFF2-40B4-BE49-F238E27FC236}">
                <a16:creationId xmlns:a16="http://schemas.microsoft.com/office/drawing/2014/main" id="{CD651AB1-D69E-7A10-3283-793525624696}"/>
              </a:ext>
            </a:extLst>
          </p:cNvPr>
          <p:cNvPicPr>
            <a:picLocks noGrp="1" noChangeAspect="1"/>
          </p:cNvPicPr>
          <p:nvPr>
            <p:ph idx="1"/>
          </p:nvPr>
        </p:nvPicPr>
        <p:blipFill>
          <a:blip r:embed="rId2"/>
          <a:stretch>
            <a:fillRect/>
          </a:stretch>
        </p:blipFill>
        <p:spPr>
          <a:xfrm>
            <a:off x="2671201" y="2458819"/>
            <a:ext cx="5343525" cy="4124325"/>
          </a:xfrm>
        </p:spPr>
      </p:pic>
      <p:sp>
        <p:nvSpPr>
          <p:cNvPr id="10" name="TextBox 9">
            <a:extLst>
              <a:ext uri="{FF2B5EF4-FFF2-40B4-BE49-F238E27FC236}">
                <a16:creationId xmlns:a16="http://schemas.microsoft.com/office/drawing/2014/main" id="{33A3BD08-3EDA-4BBC-7D2C-709E02566624}"/>
              </a:ext>
            </a:extLst>
          </p:cNvPr>
          <p:cNvSpPr txBox="1"/>
          <p:nvPr/>
        </p:nvSpPr>
        <p:spPr>
          <a:xfrm>
            <a:off x="968188" y="1690688"/>
            <a:ext cx="8928847" cy="984885"/>
          </a:xfrm>
          <a:prstGeom prst="rect">
            <a:avLst/>
          </a:prstGeom>
          <a:noFill/>
        </p:spPr>
        <p:txBody>
          <a:bodyPr wrap="square" rtlCol="0">
            <a:spAutoFit/>
          </a:bodyPr>
          <a:lstStyle/>
          <a:p>
            <a:r>
              <a:rPr lang="en-US" sz="2000" dirty="0"/>
              <a:t>Sudden spikes in emissions data could be due to unusual events, which cause a lot of outliers in the emission data.</a:t>
            </a:r>
          </a:p>
          <a:p>
            <a:endParaRPr lang="en-GB" dirty="0"/>
          </a:p>
        </p:txBody>
      </p:sp>
    </p:spTree>
    <p:extLst>
      <p:ext uri="{BB962C8B-B14F-4D97-AF65-F5344CB8AC3E}">
        <p14:creationId xmlns:p14="http://schemas.microsoft.com/office/powerpoint/2010/main" val="3390246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6B443B-F281-679D-F0F8-E546E4709DBA}"/>
              </a:ext>
            </a:extLst>
          </p:cNvPr>
          <p:cNvSpPr>
            <a:spLocks noGrp="1"/>
          </p:cNvSpPr>
          <p:nvPr>
            <p:ph idx="1"/>
          </p:nvPr>
        </p:nvSpPr>
        <p:spPr>
          <a:xfrm>
            <a:off x="676835" y="736413"/>
            <a:ext cx="10515600" cy="1025151"/>
          </a:xfrm>
        </p:spPr>
        <p:txBody>
          <a:bodyPr/>
          <a:lstStyle/>
          <a:p>
            <a:pPr marL="0" indent="0">
              <a:buNone/>
            </a:pPr>
            <a:r>
              <a:rPr lang="en-US" dirty="0"/>
              <a:t>There are 497 locations in the dataset.</a:t>
            </a:r>
          </a:p>
          <a:p>
            <a:pPr marL="0" indent="0">
              <a:buNone/>
            </a:pPr>
            <a:endParaRPr lang="en-US" dirty="0"/>
          </a:p>
        </p:txBody>
      </p:sp>
      <p:pic>
        <p:nvPicPr>
          <p:cNvPr id="5" name="Picture 4">
            <a:extLst>
              <a:ext uri="{FF2B5EF4-FFF2-40B4-BE49-F238E27FC236}">
                <a16:creationId xmlns:a16="http://schemas.microsoft.com/office/drawing/2014/main" id="{DBE794D9-51C3-DD5D-09FD-4121B1EBF571}"/>
              </a:ext>
            </a:extLst>
          </p:cNvPr>
          <p:cNvPicPr>
            <a:picLocks noChangeAspect="1"/>
          </p:cNvPicPr>
          <p:nvPr/>
        </p:nvPicPr>
        <p:blipFill>
          <a:blip r:embed="rId2"/>
          <a:stretch>
            <a:fillRect/>
          </a:stretch>
        </p:blipFill>
        <p:spPr>
          <a:xfrm>
            <a:off x="2356878" y="1524374"/>
            <a:ext cx="6545075" cy="5120758"/>
          </a:xfrm>
          <a:prstGeom prst="rect">
            <a:avLst/>
          </a:prstGeom>
        </p:spPr>
      </p:pic>
    </p:spTree>
    <p:extLst>
      <p:ext uri="{BB962C8B-B14F-4D97-AF65-F5344CB8AC3E}">
        <p14:creationId xmlns:p14="http://schemas.microsoft.com/office/powerpoint/2010/main" val="96910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25CC-2395-83BB-01F2-1B27A95F32FD}"/>
              </a:ext>
            </a:extLst>
          </p:cNvPr>
          <p:cNvSpPr>
            <a:spLocks noGrp="1"/>
          </p:cNvSpPr>
          <p:nvPr>
            <p:ph type="title"/>
          </p:nvPr>
        </p:nvSpPr>
        <p:spPr/>
        <p:txBody>
          <a:bodyPr/>
          <a:lstStyle/>
          <a:p>
            <a:r>
              <a:rPr lang="en-US" dirty="0"/>
              <a:t>Emission over the 52 weeks.</a:t>
            </a:r>
            <a:endParaRPr lang="en-GB" dirty="0"/>
          </a:p>
        </p:txBody>
      </p:sp>
      <p:pic>
        <p:nvPicPr>
          <p:cNvPr id="5" name="Content Placeholder 4">
            <a:extLst>
              <a:ext uri="{FF2B5EF4-FFF2-40B4-BE49-F238E27FC236}">
                <a16:creationId xmlns:a16="http://schemas.microsoft.com/office/drawing/2014/main" id="{EA057F2D-F386-B446-652C-ED70708C4091}"/>
              </a:ext>
            </a:extLst>
          </p:cNvPr>
          <p:cNvPicPr>
            <a:picLocks noGrp="1" noChangeAspect="1"/>
          </p:cNvPicPr>
          <p:nvPr>
            <p:ph idx="1"/>
          </p:nvPr>
        </p:nvPicPr>
        <p:blipFill>
          <a:blip r:embed="rId2"/>
          <a:stretch>
            <a:fillRect/>
          </a:stretch>
        </p:blipFill>
        <p:spPr>
          <a:xfrm>
            <a:off x="2623577" y="2448998"/>
            <a:ext cx="5438775" cy="4314825"/>
          </a:xfrm>
        </p:spPr>
      </p:pic>
    </p:spTree>
    <p:extLst>
      <p:ext uri="{BB962C8B-B14F-4D97-AF65-F5344CB8AC3E}">
        <p14:creationId xmlns:p14="http://schemas.microsoft.com/office/powerpoint/2010/main" val="14525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006B7-D85B-2C80-12A7-0C6D76B1AF48}"/>
              </a:ext>
            </a:extLst>
          </p:cNvPr>
          <p:cNvSpPr>
            <a:spLocks noGrp="1"/>
          </p:cNvSpPr>
          <p:nvPr>
            <p:ph type="title"/>
          </p:nvPr>
        </p:nvSpPr>
        <p:spPr/>
        <p:txBody>
          <a:bodyPr/>
          <a:lstStyle/>
          <a:p>
            <a:r>
              <a:rPr lang="en-US" dirty="0"/>
              <a:t>Average CO2 emission by year</a:t>
            </a:r>
            <a:endParaRPr lang="en-GB" dirty="0"/>
          </a:p>
        </p:txBody>
      </p:sp>
      <p:pic>
        <p:nvPicPr>
          <p:cNvPr id="5" name="Content Placeholder 4">
            <a:extLst>
              <a:ext uri="{FF2B5EF4-FFF2-40B4-BE49-F238E27FC236}">
                <a16:creationId xmlns:a16="http://schemas.microsoft.com/office/drawing/2014/main" id="{B5509F96-1B09-E4D7-3D8B-69D0C42FE3B1}"/>
              </a:ext>
            </a:extLst>
          </p:cNvPr>
          <p:cNvPicPr>
            <a:picLocks noGrp="1" noChangeAspect="1"/>
          </p:cNvPicPr>
          <p:nvPr>
            <p:ph idx="1"/>
          </p:nvPr>
        </p:nvPicPr>
        <p:blipFill>
          <a:blip r:embed="rId2"/>
          <a:stretch>
            <a:fillRect/>
          </a:stretch>
        </p:blipFill>
        <p:spPr>
          <a:xfrm>
            <a:off x="3511819" y="1825625"/>
            <a:ext cx="5168361" cy="4351338"/>
          </a:xfrm>
        </p:spPr>
      </p:pic>
    </p:spTree>
    <p:extLst>
      <p:ext uri="{BB962C8B-B14F-4D97-AF65-F5344CB8AC3E}">
        <p14:creationId xmlns:p14="http://schemas.microsoft.com/office/powerpoint/2010/main" val="643242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A4ED5-EFF9-5E36-5F87-7AA01275E4D8}"/>
              </a:ext>
            </a:extLst>
          </p:cNvPr>
          <p:cNvSpPr>
            <a:spLocks noGrp="1"/>
          </p:cNvSpPr>
          <p:nvPr>
            <p:ph type="title"/>
          </p:nvPr>
        </p:nvSpPr>
        <p:spPr>
          <a:xfrm>
            <a:off x="838200" y="365126"/>
            <a:ext cx="10515600" cy="966134"/>
          </a:xfrm>
        </p:spPr>
        <p:txBody>
          <a:bodyPr/>
          <a:lstStyle/>
          <a:p>
            <a:r>
              <a:rPr lang="en-US" dirty="0"/>
              <a:t>PCA</a:t>
            </a:r>
            <a:endParaRPr lang="en-GB" dirty="0"/>
          </a:p>
        </p:txBody>
      </p:sp>
      <p:pic>
        <p:nvPicPr>
          <p:cNvPr id="5" name="Content Placeholder 4">
            <a:extLst>
              <a:ext uri="{FF2B5EF4-FFF2-40B4-BE49-F238E27FC236}">
                <a16:creationId xmlns:a16="http://schemas.microsoft.com/office/drawing/2014/main" id="{F4AF6FED-00DD-93B1-6F53-82D175B6063D}"/>
              </a:ext>
            </a:extLst>
          </p:cNvPr>
          <p:cNvPicPr>
            <a:picLocks noGrp="1" noChangeAspect="1"/>
          </p:cNvPicPr>
          <p:nvPr>
            <p:ph idx="1"/>
          </p:nvPr>
        </p:nvPicPr>
        <p:blipFill>
          <a:blip r:embed="rId2"/>
          <a:stretch>
            <a:fillRect/>
          </a:stretch>
        </p:blipFill>
        <p:spPr>
          <a:xfrm>
            <a:off x="2120067" y="2506662"/>
            <a:ext cx="7306406" cy="4351338"/>
          </a:xfrm>
        </p:spPr>
      </p:pic>
      <p:sp>
        <p:nvSpPr>
          <p:cNvPr id="7" name="TextBox 6">
            <a:extLst>
              <a:ext uri="{FF2B5EF4-FFF2-40B4-BE49-F238E27FC236}">
                <a16:creationId xmlns:a16="http://schemas.microsoft.com/office/drawing/2014/main" id="{C44DB578-6543-EBFD-FEC6-BF93820BF152}"/>
              </a:ext>
            </a:extLst>
          </p:cNvPr>
          <p:cNvSpPr txBox="1"/>
          <p:nvPr/>
        </p:nvSpPr>
        <p:spPr>
          <a:xfrm>
            <a:off x="954741" y="1318797"/>
            <a:ext cx="10399059" cy="1200329"/>
          </a:xfrm>
          <a:prstGeom prst="rect">
            <a:avLst/>
          </a:prstGeom>
          <a:noFill/>
        </p:spPr>
        <p:txBody>
          <a:bodyPr wrap="square" rtlCol="0">
            <a:spAutoFit/>
          </a:bodyPr>
          <a:lstStyle/>
          <a:p>
            <a:r>
              <a:rPr lang="en-US" dirty="0"/>
              <a:t>The curve shows that the first few principal components capture a significant amount of the variance in the dataset. For example, the first 40–50 components account for roughly 70-80% of the variance. This indicates that most of the important patterns and variability in the data are captured by these early components.</a:t>
            </a:r>
          </a:p>
          <a:p>
            <a:endParaRPr lang="en-GB" dirty="0"/>
          </a:p>
        </p:txBody>
      </p:sp>
    </p:spTree>
    <p:extLst>
      <p:ext uri="{BB962C8B-B14F-4D97-AF65-F5344CB8AC3E}">
        <p14:creationId xmlns:p14="http://schemas.microsoft.com/office/powerpoint/2010/main" val="2596062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DAC83-20F3-3FBE-9431-0490B7D1B9C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7C14323-C8C6-893F-01FA-5EB31298925D}"/>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797753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A7A3B-DAE4-7596-A658-F6C55E03EED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B783D00-00CC-214B-60F6-2BEED20F44C3}"/>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427614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AC5A-413D-B05F-3748-54D8EF2FA1A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E2A2448-768F-E450-5F28-431C6CE4516E}"/>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224865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EEDDC-B2A8-FF17-BF68-69C50F1F2EB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77E94E6-EA3B-66A1-0C1D-99DAC91C28D3}"/>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8500152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355</Words>
  <Application>Microsoft Office PowerPoint</Application>
  <PresentationFormat>Widescreen</PresentationFormat>
  <Paragraphs>33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Emission of CO2 in Rwanda</vt:lpstr>
      <vt:lpstr>Introduction</vt:lpstr>
      <vt:lpstr>Objective</vt:lpstr>
      <vt:lpstr>Data description</vt:lpstr>
      <vt:lpstr>Data preprocessing</vt:lpstr>
      <vt:lpstr>    Emission</vt:lpstr>
      <vt:lpstr>PowerPoint Presentation</vt:lpstr>
      <vt:lpstr>Emission over the 52 weeks.</vt:lpstr>
      <vt:lpstr>Average CO2 emission by year</vt:lpstr>
      <vt:lpstr>PCA</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Tobi</dc:creator>
  <cp:lastModifiedBy>Daniel Tobi</cp:lastModifiedBy>
  <cp:revision>1</cp:revision>
  <dcterms:created xsi:type="dcterms:W3CDTF">2024-10-25T08:39:48Z</dcterms:created>
  <dcterms:modified xsi:type="dcterms:W3CDTF">2024-10-25T09:23:11Z</dcterms:modified>
</cp:coreProperties>
</file>